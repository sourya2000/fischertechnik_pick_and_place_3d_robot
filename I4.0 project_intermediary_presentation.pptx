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A9160C0-039E-4DEF-840A-82B221A5E1FB}">
  <a:tblStyle styleId="{0A9160C0-039E-4DEF-840A-82B221A5E1F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10fd963b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10fd963b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ea1d57a8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ea1d57a8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6ea1d57a8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6ea1d57a8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ea1d57a85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ea1d57a85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ea1d57a8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6ea1d57a8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10fd963b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10fd963b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10fd963b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10fd963b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66a95b021_2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866a95b021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66a95b021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866a95b021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6ea1d8a0a6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6ea1d8a0a6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yolo11s.pt" TargetMode="External"/><Relationship Id="rId4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hange color of slide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" y="20061"/>
            <a:ext cx="9143545" cy="510338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73250" y="4649625"/>
            <a:ext cx="29565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</a:rPr>
              <a:t>Interim Presentation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Problem Statement </a:t>
            </a:r>
            <a:endParaRPr b="1" sz="200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Automate the process of picking, storing, and dispatching orders using microcontrollers and computer vision.</a:t>
            </a:r>
            <a:br>
              <a:rPr lang="en-GB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Improve accuracy and efficiency in warehouse logistics.</a:t>
            </a:r>
            <a:br>
              <a:rPr lang="en-GB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Integrate object detection with inventory control.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Hardware Used</a:t>
            </a:r>
            <a:endParaRPr b="1" sz="200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Raspberry Pi 5 + 4-channel Relay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Electromagnet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DC Motors for movement of crane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GB" sz="1500">
                <a:solidFill>
                  <a:schemeClr val="dk1"/>
                </a:solidFill>
              </a:rPr>
              <a:t>Camera Module (for Computer vision)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000"/>
              <a:t>Hardware Setup</a:t>
            </a:r>
            <a:endParaRPr sz="2000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5055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0832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95"/>
              <a:buChar char="●"/>
            </a:pPr>
            <a:r>
              <a:rPr lang="en-GB" sz="1295">
                <a:solidFill>
                  <a:schemeClr val="dk1"/>
                </a:solidFill>
              </a:rPr>
              <a:t>Raspberry Pi controls two 4-channel relay boards using digital output pins.</a:t>
            </a:r>
            <a:br>
              <a:rPr lang="en-GB" sz="1295">
                <a:solidFill>
                  <a:schemeClr val="dk1"/>
                </a:solidFill>
              </a:rPr>
            </a:br>
            <a:endParaRPr sz="1295">
              <a:solidFill>
                <a:schemeClr val="dk1"/>
              </a:solidFill>
            </a:endParaRPr>
          </a:p>
          <a:p>
            <a:pPr indent="-31083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95"/>
              <a:buChar char="●"/>
            </a:pPr>
            <a:r>
              <a:rPr lang="en-GB" sz="1295">
                <a:solidFill>
                  <a:schemeClr val="dk1"/>
                </a:solidFill>
              </a:rPr>
              <a:t>Relays switch a 12 V supply to drive three DC motors (X, Y, Z).</a:t>
            </a:r>
            <a:br>
              <a:rPr lang="en-GB" sz="1295">
                <a:solidFill>
                  <a:schemeClr val="dk1"/>
                </a:solidFill>
              </a:rPr>
            </a:br>
            <a:endParaRPr sz="1295">
              <a:solidFill>
                <a:schemeClr val="dk1"/>
              </a:solidFill>
            </a:endParaRPr>
          </a:p>
          <a:p>
            <a:pPr indent="-31083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95"/>
              <a:buChar char="●"/>
            </a:pPr>
            <a:r>
              <a:rPr lang="en-GB" sz="1295">
                <a:solidFill>
                  <a:schemeClr val="dk1"/>
                </a:solidFill>
              </a:rPr>
              <a:t>Each motor uses two relays for forward and reverse motion.</a:t>
            </a:r>
            <a:br>
              <a:rPr lang="en-GB" sz="1295">
                <a:solidFill>
                  <a:schemeClr val="dk1"/>
                </a:solidFill>
              </a:rPr>
            </a:br>
            <a:endParaRPr sz="1295">
              <a:solidFill>
                <a:schemeClr val="dk1"/>
              </a:solidFill>
            </a:endParaRPr>
          </a:p>
          <a:p>
            <a:pPr indent="-310832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95"/>
              <a:buChar char="●"/>
            </a:pPr>
            <a:r>
              <a:rPr lang="en-GB" sz="1295">
                <a:solidFill>
                  <a:schemeClr val="dk1"/>
                </a:solidFill>
              </a:rPr>
              <a:t>Relay isolation protects the Arduino from high motor currents.</a:t>
            </a:r>
            <a:endParaRPr sz="1295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95"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0673" y="673475"/>
            <a:ext cx="3500450" cy="394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GB" sz="2029"/>
              <a:t>Digital Twin Setup (CoppeliaSim)</a:t>
            </a:r>
            <a:endParaRPr b="1" sz="2029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102375" y="1152475"/>
            <a:ext cx="3756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A 3-axis gantry system (X, Y, Z) is modeled in CoppeliaSim to replicate the physical setup.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Each axis is implemented using prismatic joints with realistic motion limits.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An electromagnet end-effector is used for pick-and-place operations.</a:t>
            </a:r>
            <a:br>
              <a:rPr lang="en-GB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The simulation mirrors the real hardware behavior, enabling testing and validation before deployment.</a:t>
            </a:r>
            <a:endParaRPr sz="12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7625" y="1152469"/>
            <a:ext cx="4572000" cy="2428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/>
              <a:t>Object Detection and Integration </a:t>
            </a:r>
            <a:endParaRPr b="1" sz="2000"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5748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Labelling the objects and model training for object detection using </a:t>
            </a:r>
            <a:r>
              <a:rPr b="1" lang="en-GB" sz="1700">
                <a:solidFill>
                  <a:schemeClr val="dk1"/>
                </a:solidFill>
              </a:rPr>
              <a:t>Ultralytics </a:t>
            </a:r>
            <a:r>
              <a:rPr b="1" lang="en-GB" sz="1700" u="sng">
                <a:solidFill>
                  <a:schemeClr val="hlink"/>
                </a:solidFill>
                <a:hlinkClick r:id="rId3"/>
              </a:rPr>
              <a:t>yolo11s.pt</a:t>
            </a:r>
            <a:r>
              <a:rPr b="1" lang="en-GB" sz="1700">
                <a:solidFill>
                  <a:schemeClr val="dk1"/>
                </a:solidFill>
              </a:rPr>
              <a:t> ✅</a:t>
            </a:r>
            <a:endParaRPr b="1"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Developing algorithm to load the model, run inference on image and draw bounding boxes around the objects with confidence scores ✅</a:t>
            </a:r>
            <a:endParaRPr sz="17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GB" sz="1700">
                <a:solidFill>
                  <a:schemeClr val="dk1"/>
                </a:solidFill>
              </a:rPr>
              <a:t>Integration of object detection model with motor </a:t>
            </a:r>
            <a:r>
              <a:rPr lang="en-GB" sz="1700">
                <a:solidFill>
                  <a:schemeClr val="dk1"/>
                </a:solidFill>
              </a:rPr>
              <a:t>movements</a:t>
            </a:r>
            <a:r>
              <a:rPr lang="en-GB" sz="1700">
                <a:solidFill>
                  <a:schemeClr val="dk1"/>
                </a:solidFill>
              </a:rPr>
              <a:t> to implement fully autonomous system</a:t>
            </a:r>
            <a:r>
              <a:rPr lang="en-GB" sz="1700"/>
              <a:t>✅</a:t>
            </a:r>
            <a:endParaRPr sz="1700"/>
          </a:p>
        </p:txBody>
      </p:sp>
      <p:pic>
        <p:nvPicPr>
          <p:cNvPr id="88" name="Google Shape;88;p18" title="bounding box.jf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51650" y="1152476"/>
            <a:ext cx="2480649" cy="2373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020"/>
              <a:t>Model Evaluation And </a:t>
            </a:r>
            <a:r>
              <a:rPr b="1" lang="en-GB" sz="2020"/>
              <a:t>Further</a:t>
            </a:r>
            <a:r>
              <a:rPr b="1" lang="en-GB" sz="2020"/>
              <a:t> Improvement</a:t>
            </a:r>
            <a:endParaRPr b="1" sz="2020"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5002800" cy="37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496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-GB" sz="1360">
                <a:solidFill>
                  <a:schemeClr val="dk1"/>
                </a:solidFill>
              </a:rPr>
              <a:t>Model evaluation performed on validation datasets and the results are shown in </a:t>
            </a:r>
            <a:r>
              <a:rPr b="1" lang="en-GB" sz="1360">
                <a:solidFill>
                  <a:schemeClr val="dk1"/>
                </a:solidFill>
              </a:rPr>
              <a:t>Table 1</a:t>
            </a:r>
            <a:endParaRPr b="1" sz="136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b="1" sz="1360">
              <a:solidFill>
                <a:schemeClr val="dk1"/>
              </a:solidFill>
            </a:endParaRPr>
          </a:p>
          <a:p>
            <a:pPr indent="-31496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-GB" sz="1360">
                <a:solidFill>
                  <a:schemeClr val="dk1"/>
                </a:solidFill>
              </a:rPr>
              <a:t>As we took very less </a:t>
            </a:r>
            <a:r>
              <a:rPr lang="en-GB" sz="1360">
                <a:solidFill>
                  <a:schemeClr val="dk1"/>
                </a:solidFill>
              </a:rPr>
              <a:t>pictures while model training, the performance of the model is moderate though the inference is quite hgh (</a:t>
            </a:r>
            <a:r>
              <a:rPr b="1" lang="en-GB" sz="1360">
                <a:solidFill>
                  <a:schemeClr val="dk1"/>
                </a:solidFill>
              </a:rPr>
              <a:t>5.0 s per object) </a:t>
            </a:r>
            <a:r>
              <a:rPr lang="en-GB" sz="1360">
                <a:solidFill>
                  <a:schemeClr val="dk1"/>
                </a:solidFill>
              </a:rPr>
              <a:t>which looks good</a:t>
            </a:r>
            <a:endParaRPr sz="136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360">
              <a:solidFill>
                <a:schemeClr val="dk1"/>
              </a:solidFill>
            </a:endParaRPr>
          </a:p>
          <a:p>
            <a:pPr indent="-31496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-GB" sz="1360">
                <a:solidFill>
                  <a:schemeClr val="dk1"/>
                </a:solidFill>
              </a:rPr>
              <a:t>Converted pytorch model to onnx format which resulted significant improvement in FPS and inference on image</a:t>
            </a:r>
            <a:endParaRPr sz="136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360">
              <a:solidFill>
                <a:schemeClr val="dk1"/>
              </a:solidFill>
            </a:endParaRPr>
          </a:p>
          <a:p>
            <a:pPr indent="-31496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-GB" sz="1360">
                <a:solidFill>
                  <a:schemeClr val="dk1"/>
                </a:solidFill>
              </a:rPr>
              <a:t>We will train the model again with more pictures and validate again for more accurate results .</a:t>
            </a:r>
            <a:endParaRPr sz="136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360">
              <a:solidFill>
                <a:schemeClr val="dk1"/>
              </a:solidFill>
            </a:endParaRPr>
          </a:p>
        </p:txBody>
      </p:sp>
      <p:graphicFrame>
        <p:nvGraphicFramePr>
          <p:cNvPr id="95" name="Google Shape;95;p19"/>
          <p:cNvGraphicFramePr/>
          <p:nvPr/>
        </p:nvGraphicFramePr>
        <p:xfrm>
          <a:off x="5906025" y="11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{0A9160C0-039E-4DEF-840A-82B221A5E1FB}</a:tableStyleId>
              </a:tblPr>
              <a:tblGrid>
                <a:gridCol w="1451800"/>
                <a:gridCol w="1451800"/>
              </a:tblGrid>
              <a:tr h="708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MAP@50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50%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MAP@50-90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51%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Precision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53%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Recall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55%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3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Inference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5.0 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8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6" name="Google Shape;96;p19"/>
          <p:cNvSpPr txBox="1"/>
          <p:nvPr/>
        </p:nvSpPr>
        <p:spPr>
          <a:xfrm>
            <a:off x="6448825" y="3620650"/>
            <a:ext cx="1445100" cy="8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  Table 1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User interface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5919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Created UI for real time tracking of dispatched orders with FastAPI for backend and Streamlit for frontend ✅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Integrated with the whole system to make it user friendly ✅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Next steps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724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Converting the object detection model to more robust for integrating with the whole system and </a:t>
            </a:r>
            <a:r>
              <a:rPr lang="en-GB">
                <a:solidFill>
                  <a:schemeClr val="dk1"/>
                </a:solidFill>
              </a:rPr>
              <a:t>implementing</a:t>
            </a:r>
            <a:r>
              <a:rPr lang="en-GB">
                <a:solidFill>
                  <a:schemeClr val="dk1"/>
                </a:solidFill>
              </a:rPr>
              <a:t> FIFO storage policy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Implementing</a:t>
            </a:r>
            <a:r>
              <a:rPr b="1" lang="en-GB">
                <a:solidFill>
                  <a:schemeClr val="dk1"/>
                </a:solidFill>
              </a:rPr>
              <a:t> OCR </a:t>
            </a:r>
            <a:r>
              <a:rPr lang="en-GB">
                <a:solidFill>
                  <a:schemeClr val="dk1"/>
                </a:solidFill>
              </a:rPr>
              <a:t>for extracting serial template numbers and integrating with the user interface to show the </a:t>
            </a:r>
            <a:r>
              <a:rPr lang="en-GB">
                <a:solidFill>
                  <a:schemeClr val="dk1"/>
                </a:solidFill>
              </a:rPr>
              <a:t>dispatched</a:t>
            </a:r>
            <a:r>
              <a:rPr lang="en-GB">
                <a:solidFill>
                  <a:schemeClr val="dk1"/>
                </a:solidFill>
              </a:rPr>
              <a:t> order numbers in  real time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Integrating Digital twin with the system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                                           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1"/>
                </a:solidFill>
              </a:rPr>
              <a:t>                                    </a:t>
            </a:r>
            <a:r>
              <a:rPr b="1" lang="en-GB" sz="2300">
                <a:solidFill>
                  <a:schemeClr val="dk1"/>
                </a:solidFill>
              </a:rPr>
              <a:t> </a:t>
            </a:r>
            <a:r>
              <a:rPr lang="en-GB" sz="2100">
                <a:solidFill>
                  <a:schemeClr val="dk1"/>
                </a:solidFill>
              </a:rPr>
              <a:t>THANK YOU.. Any questions?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